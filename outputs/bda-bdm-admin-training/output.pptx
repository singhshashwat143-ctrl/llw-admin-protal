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6eeb27f958440c" /><Relationship Type="http://schemas.openxmlformats.org/officeDocument/2006/relationships/extended-properties" Target="/docProps/app.xml" Id="Rb19de39879984de8" /><Relationship Type="http://schemas.openxmlformats.org/officeDocument/2006/relationships/officeDocument" Target="/ppt/presentation.xml" Id="R426dcfecca7b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7c0acf9514467"/>
  </p:sldMasterIdLst>
  <p:notesMasterIdLst>
    <p:notesMasterId xmlns:r="http://schemas.openxmlformats.org/officeDocument/2006/relationships" r:id="Rcea1732e45a64f10"/>
  </p:notesMasterIdLst>
  <p:sldIdLst>
    <p:sldId xmlns:r="http://schemas.openxmlformats.org/officeDocument/2006/relationships" id="256" r:id="R393450eec5e74959"/>
    <p:sldId xmlns:r="http://schemas.openxmlformats.org/officeDocument/2006/relationships" id="257" r:id="Ra619ea4844584cf7"/>
    <p:sldId xmlns:r="http://schemas.openxmlformats.org/officeDocument/2006/relationships" id="258" r:id="R3063653de120471d"/>
    <p:sldId xmlns:r="http://schemas.openxmlformats.org/officeDocument/2006/relationships" id="259" r:id="R65344e4dd6864748"/>
    <p:sldId xmlns:r="http://schemas.openxmlformats.org/officeDocument/2006/relationships" id="260" r:id="R16c6d13f494c472e"/>
    <p:sldId xmlns:r="http://schemas.openxmlformats.org/officeDocument/2006/relationships" id="261" r:id="R91ba9813e3434a55"/>
    <p:sldId xmlns:r="http://schemas.openxmlformats.org/officeDocument/2006/relationships" id="262" r:id="R943acc6112c34264"/>
    <p:sldId xmlns:r="http://schemas.openxmlformats.org/officeDocument/2006/relationships" id="263" r:id="Re31d545880d74ed7"/>
    <p:sldId xmlns:r="http://schemas.openxmlformats.org/officeDocument/2006/relationships" id="264" r:id="Ra8d66afc67fc40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7c0acf9514467" /><Relationship Type="http://schemas.openxmlformats.org/officeDocument/2006/relationships/theme" Target="/ppt/theme/theme1.xml" Id="Rc4d5bc5c98f24eed" /><Relationship Type="http://schemas.openxmlformats.org/officeDocument/2006/relationships/notesMaster" Target="/ppt/notesMasters/notesMaster1.xml" Id="Rcea1732e45a64f10" /><Relationship Type="http://schemas.openxmlformats.org/officeDocument/2006/relationships/presProps" Target="/ppt/presProps.xml" Id="Ra4c97b77f4aa4b19" /><Relationship Type="http://schemas.openxmlformats.org/officeDocument/2006/relationships/viewProps" Target="/ppt/viewProps.xml" Id="Re89d784233654d18" /><Relationship Type="http://schemas.openxmlformats.org/officeDocument/2006/relationships/tableStyles" Target="/ppt/tableStyles.xml" Id="Rf671b130a79e4482" /><Relationship Type="http://schemas.openxmlformats.org/officeDocument/2006/relationships/slide" Target="/ppt/slides/slide1.xml" Id="R393450eec5e74959" /><Relationship Type="http://schemas.openxmlformats.org/officeDocument/2006/relationships/slide" Target="/ppt/slides/slide2.xml" Id="Ra619ea4844584cf7" /><Relationship Type="http://schemas.openxmlformats.org/officeDocument/2006/relationships/slide" Target="/ppt/slides/slide3.xml" Id="R3063653de120471d" /><Relationship Type="http://schemas.openxmlformats.org/officeDocument/2006/relationships/slide" Target="/ppt/slides/slide4.xml" Id="R65344e4dd6864748" /><Relationship Type="http://schemas.openxmlformats.org/officeDocument/2006/relationships/slide" Target="/ppt/slides/slide5.xml" Id="R16c6d13f494c472e" /><Relationship Type="http://schemas.openxmlformats.org/officeDocument/2006/relationships/slide" Target="/ppt/slides/slide6.xml" Id="R91ba9813e3434a55" /><Relationship Type="http://schemas.openxmlformats.org/officeDocument/2006/relationships/slide" Target="/ppt/slides/slide7.xml" Id="R943acc6112c34264" /><Relationship Type="http://schemas.openxmlformats.org/officeDocument/2006/relationships/slide" Target="/ppt/slides/slide8.xml" Id="Re31d545880d74ed7" /><Relationship Type="http://schemas.openxmlformats.org/officeDocument/2006/relationships/slide" Target="/ppt/slides/slide9.xml" Id="Ra8d66afc67fc40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59ba70ace5045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0c74c8f98440a8" /><Relationship Type="http://schemas.openxmlformats.org/officeDocument/2006/relationships/notesMaster" Target="/ppt/notesMasters/notesMaster1.xml" Id="R19ef63ebd13f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eeceb0ae174634" /><Relationship Type="http://schemas.openxmlformats.org/officeDocument/2006/relationships/notesMaster" Target="/ppt/notesMasters/notesMaster1.xml" Id="R753f791a8020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1dfc2c4e5e4598" /><Relationship Type="http://schemas.openxmlformats.org/officeDocument/2006/relationships/notesMaster" Target="/ppt/notesMasters/notesMaster1.xml" Id="Rf50909aad09a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232212a7441d3" /><Relationship Type="http://schemas.openxmlformats.org/officeDocument/2006/relationships/notesMaster" Target="/ppt/notesMasters/notesMaster1.xml" Id="R92420682da1d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c12e526a974721" /><Relationship Type="http://schemas.openxmlformats.org/officeDocument/2006/relationships/notesMaster" Target="/ppt/notesMasters/notesMaster1.xml" Id="R022332f9ddd544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6b9b597ca0493c" /><Relationship Type="http://schemas.openxmlformats.org/officeDocument/2006/relationships/notesMaster" Target="/ppt/notesMasters/notesMaster1.xml" Id="Rf3832870050641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87fcfea0e4b21" /><Relationship Type="http://schemas.openxmlformats.org/officeDocument/2006/relationships/notesMaster" Target="/ppt/notesMasters/notesMaster1.xml" Id="Rf6a1cfdb45c54e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43d28da0c545e6" /><Relationship Type="http://schemas.openxmlformats.org/officeDocument/2006/relationships/notesMaster" Target="/ppt/notesMasters/notesMaster1.xml" Id="Re83b0827d42044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b38a80a006463c" /><Relationship Type="http://schemas.openxmlformats.org/officeDocument/2006/relationships/notesMaster" Target="/ppt/notesMasters/notesMaster1.xml" Id="R9530f3b5563f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shared objective: one connected workflow for revenue, operations, webinars, and fulfilment. Set the expectation that the deck is about current training usability first, then future-state messaging.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routes and modules: src/App.tsx, src/components/Sidebar.tsx</a:t>
            </a:r>
          </a:p>
          <a:p xmlns:a="http://schemas.openxmlformats.org/drawingml/2006/main">
            <a:r>
              <a:t>- Static product overview pages used as support visuals: admin.html, webinar.html, database.html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not just a payment tool. It is a shared operations system where revenue, webinar activity, refunds, and fulfilment all touch the same customer/order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routes and modules: src/App.tsx, src/components/Sidebar.tsx</a:t>
            </a:r>
          </a:p>
          <a:p xmlns:a="http://schemas.openxmlformats.org/drawingml/2006/main">
            <a:r>
              <a:t>- Order, student, and payment entities: db/schema.sql, server/data-store.mjs</a:t>
            </a:r>
          </a:p>
          <a:p xmlns:a="http://schemas.openxmlformats.org/drawingml/2006/main">
            <a:r>
              <a:t>- Static product overview pages used as support visuals: admin.html, webinar.html, database.html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route access is not only about page visibility. Some workflows, like refunds, are operationally split: BDA can initiate a request from payments, but admin users must approve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Role permissions and restriction copy: src/lib/permissions.ts</a:t>
            </a:r>
          </a:p>
          <a:p xmlns:a="http://schemas.openxmlformats.org/drawingml/2006/main">
            <a:r>
              <a:t>- Payments board, recovery links, and checkout behavior: src/pages/Payments.tsx</a:t>
            </a:r>
          </a:p>
          <a:p xmlns:a="http://schemas.openxmlformats.org/drawingml/2006/main">
            <a:r>
              <a:t>- Refund workflow and admin approval behavior: src/pages/Refunds.tsx</a:t>
            </a:r>
          </a:p>
          <a:p xmlns:a="http://schemas.openxmlformats.org/drawingml/2006/main">
            <a:r>
              <a:t>- Exports filter behavior and access scope: src/pages/Exports.tsx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the simplest end-to-end story. After payment, there are two important branches: token follow-up for remaining dues, and operations fulfilment for fully paid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BDA onboarding and AiSensy payment-link flow: src/pages/Onboarding.tsx</a:t>
            </a:r>
          </a:p>
          <a:p xmlns:a="http://schemas.openxmlformats.org/drawingml/2006/main">
            <a:r>
              <a:t>- Payments board, recovery links, and checkout behavior: src/pages/Payments.tsx</a:t>
            </a:r>
          </a:p>
          <a:p xmlns:a="http://schemas.openxmlformats.org/drawingml/2006/main">
            <a:r>
              <a:t>- Tracker and recovery follow-up flow: src/pages/Tracker.tsx</a:t>
            </a:r>
          </a:p>
          <a:p xmlns:a="http://schemas.openxmlformats.org/drawingml/2006/main">
            <a:r>
              <a:t>- Operations queue and fulfilment checklist: src/pages/Operations.tsx</a:t>
            </a:r>
          </a:p>
          <a:p xmlns:a="http://schemas.openxmlformats.org/drawingml/2006/main">
            <a:r>
              <a:t>- Order, student, and payment entities: db/schema.sql, server/data-store.mjs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accuracy at data entry time. Good onboarding setup controls the rest of the customer journey, including tracker visibility and recovery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BDA onboarding and AiSensy payment-link flow: src/pages/Onboarding.tsx</a:t>
            </a:r>
          </a:p>
          <a:p xmlns:a="http://schemas.openxmlformats.org/drawingml/2006/main">
            <a:r>
              <a:t>- Payments board, recovery links, and checkout behavior: src/pages/Payments.tsx</a:t>
            </a:r>
          </a:p>
          <a:p xmlns:a="http://schemas.openxmlformats.org/drawingml/2006/main">
            <a:r>
              <a:t>- Tracker and recovery follow-up flow: src/pages/Tracker.tsx</a:t>
            </a:r>
          </a:p>
          <a:p xmlns:a="http://schemas.openxmlformats.org/drawingml/2006/main">
            <a:r>
              <a:t>- Role permissions and restriction copy: src/lib/permissions.ts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BDM workflow as supervisory. They still live in the same platform, but their core value is visibility, review, and escalation rather than basic data 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 and team visibility copy: src/pages/Dashboard.tsx, src/pages/Team.tsx</a:t>
            </a:r>
          </a:p>
          <a:p xmlns:a="http://schemas.openxmlformats.org/drawingml/2006/main">
            <a:r>
              <a:t>- team</a:t>
            </a:r>
          </a:p>
          <a:p xmlns:a="http://schemas.openxmlformats.org/drawingml/2006/main">
            <a:r>
              <a:t>- Tracker and recovery follow-up flow: src/pages/Tracker.tsx</a:t>
            </a:r>
          </a:p>
          <a:p xmlns:a="http://schemas.openxmlformats.org/drawingml/2006/main">
            <a:r>
              <a:t>- Exports filter behavior and access scope: src/pages/Exports.tsx</a:t>
            </a:r>
          </a:p>
          <a:p xmlns:a="http://schemas.openxmlformats.org/drawingml/2006/main">
            <a:r>
              <a:t>- Role permissions and restriction copy: src/lib/permissions.ts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operations queue only shows fully paid orders: it protects the ops team from collection clutter and keeps fulfilment steps cleanly separated.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Payments board, recovery links, and checkout behavior: src/pages/Payments.tsx</a:t>
            </a:r>
          </a:p>
          <a:p xmlns:a="http://schemas.openxmlformats.org/drawingml/2006/main">
            <a:r>
              <a:t>- Refund workflow and admin approval behavior: src/pages/Refunds.tsx</a:t>
            </a:r>
          </a:p>
          <a:p xmlns:a="http://schemas.openxmlformats.org/drawingml/2006/main">
            <a:r>
              <a:t>- Operations queue and fulfilment checklist: src/pages/Operations.tsx</a:t>
            </a:r>
          </a:p>
          <a:p xmlns:a="http://schemas.openxmlformats.org/drawingml/2006/main">
            <a:r>
              <a:t>- Role permissions and restriction copy: src/lib/permissions.ts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app already supports manual AiSensy payment-link sends from onboarding, but the automated post-payment confirmation and welcome sequence should still be presented as future-facing training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BDA onboarding and AiSensy payment-link flow: src/pages/Onboarding.tsx</a:t>
            </a:r>
          </a:p>
          <a:p xmlns:a="http://schemas.openxmlformats.org/drawingml/2006/main">
            <a:r>
              <a:t>- Payments board, recovery links, and checkout behavior: src/pages/Payments.tsx</a:t>
            </a:r>
          </a:p>
          <a:p xmlns:a="http://schemas.openxmlformats.org/drawingml/2006/main">
            <a:r>
              <a:t>- Payment verification and AiSensy endpoints: server/webinar-server.mjs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closing slide should sound practical, not speculative. The future-state message is: after payment completion, the team will try to send AiSensy confirmation and welcome messages. Until that is complete, the current usability stays as already trained.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Payment verification and AiSensy endpoints: server/webinar-server.mjs</a:t>
            </a:r>
          </a:p>
          <a:p xmlns:a="http://schemas.openxmlformats.org/drawingml/2006/main">
            <a:r>
              <a:t>- BDA onboarding and AiSensy payment-link flow: src/pages/Onboarding.tsx</a:t>
            </a:r>
          </a:p>
          <a:p xmlns:a="http://schemas.openxmlformats.org/drawingml/2006/main">
            <a:r>
              <a:t>- Operations queue and fulfilment checklist: src/pages/Operations.tsx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45c34f4d4484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75B08D6-5E45-4499-BF95-AC3DD1F3C53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BEE4CD-DC62-4BE9-82FA-AE1BF909552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5D322E-0473-49D3-85C7-ADF3236EE18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2CA6F6-6E2C-4C16-8307-4FA209CD04F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20b688c9734511" /><Relationship Type="http://schemas.openxmlformats.org/officeDocument/2006/relationships/slideLayout" Target="/ppt/slideLayouts/slideLayout2.xml" Id="R6370066207be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590F9A-4FD7-4D7B-B8E5-A85CF41FA83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0066207be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35eb0982f4ea1" /><Relationship Type="http://schemas.openxmlformats.org/officeDocument/2006/relationships/image" Target="/ppt/media/image.png" Id="R1b48c1f753bb4f2d" /><Relationship Type="http://schemas.openxmlformats.org/officeDocument/2006/relationships/image" Target="/ppt/media/image2.png" Id="R88637cb66e4b48f9" /><Relationship Type="http://schemas.openxmlformats.org/officeDocument/2006/relationships/image" Target="/ppt/media/image3.png" Id="R1d3aac26a1fa41dc" /><Relationship Type="http://schemas.openxmlformats.org/officeDocument/2006/relationships/image" Target="/ppt/media/image4.png" Id="R5fb0aa0869684970" /><Relationship Type="http://schemas.openxmlformats.org/officeDocument/2006/relationships/notesSlide" Target="/ppt/notesSlides/notesSlide1.xml" Id="Rcb0cb439f89d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4646f8bdf94054" /><Relationship Type="http://schemas.openxmlformats.org/officeDocument/2006/relationships/image" Target="/ppt/media/image5.png" Id="Re20aad6967b54947" /><Relationship Type="http://schemas.openxmlformats.org/officeDocument/2006/relationships/notesSlide" Target="/ppt/notesSlides/notesSlide2.xml" Id="R9c8b943ea25c4b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d727f1f1c4ad1" /><Relationship Type="http://schemas.openxmlformats.org/officeDocument/2006/relationships/image" Target="/ppt/media/image6.png" Id="Rdd6a2970305c44a0" /><Relationship Type="http://schemas.openxmlformats.org/officeDocument/2006/relationships/notesSlide" Target="/ppt/notesSlides/notesSlide3.xml" Id="Rb00d51fd490f4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1907a6efe648a2" /><Relationship Type="http://schemas.openxmlformats.org/officeDocument/2006/relationships/image" Target="/ppt/media/image7.png" Id="Rdd6a9a540b274b91" /><Relationship Type="http://schemas.openxmlformats.org/officeDocument/2006/relationships/notesSlide" Target="/ppt/notesSlides/notesSlide4.xml" Id="R3e8b053f6b74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fa9a8f316420c" /><Relationship Type="http://schemas.openxmlformats.org/officeDocument/2006/relationships/image" Target="/ppt/media/image8.png" Id="R0f72d45558a84ef8" /><Relationship Type="http://schemas.openxmlformats.org/officeDocument/2006/relationships/notesSlide" Target="/ppt/notesSlides/notesSlide5.xml" Id="R82e626feefd9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94206d7ac4819" /><Relationship Type="http://schemas.openxmlformats.org/officeDocument/2006/relationships/image" Target="/ppt/media/image9.png" Id="R6060a115b30a4706" /><Relationship Type="http://schemas.openxmlformats.org/officeDocument/2006/relationships/notesSlide" Target="/ppt/notesSlides/notesSlide6.xml" Id="Rd9c4576fbfb443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e43132c0c24ecf" /><Relationship Type="http://schemas.openxmlformats.org/officeDocument/2006/relationships/image" Target="/ppt/media/image10.png" Id="R5d30b43b0c8742d1" /><Relationship Type="http://schemas.openxmlformats.org/officeDocument/2006/relationships/notesSlide" Target="/ppt/notesSlides/notesSlide7.xml" Id="Re1dd10c1b697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80ea4b84504304" /><Relationship Type="http://schemas.openxmlformats.org/officeDocument/2006/relationships/image" Target="/ppt/media/image11.png" Id="R0e3eb6afe18a40f6" /><Relationship Type="http://schemas.openxmlformats.org/officeDocument/2006/relationships/notesSlide" Target="/ppt/notesSlides/notesSlide8.xml" Id="R9ef50da0d33a47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08f70d4d94aaa" /><Relationship Type="http://schemas.openxmlformats.org/officeDocument/2006/relationships/image" Target="/ppt/media/image12.png" Id="R910d4d79b0e34a4c" /><Relationship Type="http://schemas.openxmlformats.org/officeDocument/2006/relationships/notesSlide" Target="/ppt/notesSlides/notesSlide9.xml" Id="R17a59fa3e426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46B30-1100-4F17-A64E-6030439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666750"/>
            <a:ext cx="3619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578B1-7A27-42C8-8CE4-B0A22E3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40005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2E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5D0A5-8E69-4F5C-9015-4426C8E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6667500" cy="57912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8c1f753bb4f2d"/>
          <a:stretch xmlns:a="http://schemas.openxmlformats.org/drawingml/2006/main"/>
        </p:blipFill>
        <p:spPr>
          <a:xfrm xmlns:a="http://schemas.openxmlformats.org/drawingml/2006/main">
            <a:off x="800100" y="767553"/>
            <a:ext cx="1714500" cy="598493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56547-409B-42B9-A7E5-9048911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1301-B521-420B-B44C-41813A82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LLW APPLICATION 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23B22-1871-4257-878F-06FC9C8F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352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BDA, BDM</a:t>
            </a:r>
          </a:p>
          <a:p xmlns:a="http://schemas.openxmlformats.org/drawingml/2006/main"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&amp;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48632-2FC8-497A-968E-772570EC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372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Training deck for usability of the application, role-based work areas, and the full customer journey from lead to fulfilment.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7ACA-C809-4BE6-9612-69B00020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B2A63-12CD-4C81-87D6-36DA1F3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BDA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3CAF6-35EC-42AC-BC98-71DFEBC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81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2D0D4-305B-4FD7-9EDB-61FE556C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386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2400E"/>
                </a:solidFill>
              </a:defRPr>
            </a:pPr>
            <a:r>
              <a:rPr sz="825" b="1">
                <a:solidFill>
                  <a:srgbClr val="92400E"/>
                </a:solidFill>
              </a:rPr>
              <a:t>BDM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E2EA4-8FD1-4F5E-BCD9-3331C2E7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150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E1C6F-4B80-4F0D-AE4A-2BC7A44F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386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</a:defRPr>
            </a:pPr>
            <a:r>
              <a:rPr sz="825" b="1">
                <a:solidFill>
                  <a:srgbClr val="065F46"/>
                </a:solidFill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315CB-8B28-40B7-A8BC-75562583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563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27127-1E07-49DE-90FA-186ADEF1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Focus for this session: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• how teams use the app today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• where each role should work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• what happens after payment right now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• what we may automate in future updates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CF8D4-F5E1-4629-B024-A1421546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04850"/>
            <a:ext cx="3886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37cb66e4b48f9"/>
          <a:stretch xmlns:a="http://schemas.openxmlformats.org/drawingml/2006/main"/>
        </p:blipFill>
        <p:spPr>
          <a:xfrm xmlns:a="http://schemas.openxmlformats.org/drawingml/2006/main">
            <a:off x="9086850" y="876300"/>
            <a:ext cx="800100" cy="8001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2FB4D-1E9B-4F40-A7C0-878F893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Webinar side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5606F-9D98-4DBB-A2B8-2F8E5D29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Lead capture, live sessions, and conversion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62EEE-6447-41E8-94DD-07302E5F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14600"/>
            <a:ext cx="42672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aac26a1fa41dc"/>
          <a:stretch xmlns:a="http://schemas.openxmlformats.org/drawingml/2006/main"/>
        </p:blipFill>
        <p:spPr>
          <a:xfrm xmlns:a="http://schemas.openxmlformats.org/drawingml/2006/main">
            <a:off x="8734425" y="2686050"/>
            <a:ext cx="1123950" cy="112395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4B616-5A68-4D18-90E4-F35ADDB2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Admin 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6C9EB-8EBB-48F1-8652-ACC8B34A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3924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Payments, onboarding, tracker, team, and fulfilment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7347C-2AC7-4DA4-A31C-0D5E4E02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6957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0aa0869684970"/>
          <a:stretch xmlns:a="http://schemas.openxmlformats.org/drawingml/2006/main"/>
        </p:blipFill>
        <p:spPr>
          <a:xfrm xmlns:a="http://schemas.openxmlformats.org/drawingml/2006/main">
            <a:off x="9344025" y="4838700"/>
            <a:ext cx="476250" cy="47625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B0D72B-FA95-48DF-AB38-AF3C55EA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10200"/>
            <a:ext cx="335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Shared data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C883D-6B8F-4A3A-B91A-341A3EC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5785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Orders, payments, refunds, students, and ops status stay connected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290ED-0909-4682-8350-0060F3A2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LLW internal training deck • April 2026</a:t>
            </a:r>
          </a:p>
        </p:txBody>
      </p:sp>
    </p:spTree>
    <p:extLst>
      <p:ext uri="{BB962C8B-B14F-4D97-AF65-F5344CB8AC3E}">
        <p14:creationId xmlns:p14="http://schemas.microsoft.com/office/powerpoint/2010/main" val="1665496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50175-6869-482C-93E1-14B3C35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CB8C1-DAF5-4F7F-857F-91B3BDB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C4B99-CA03-400D-BD76-D86D53FA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CB686-32DD-41AD-BD43-25A3C71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PLATFORM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0B09-83E9-4FEC-9272-6EAF208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55D17-2339-497C-A2E0-3534D4B9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One application, shared business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64B9F-9F11-4966-B04A-7683FBC3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product combines acquisition, payment tracking, customer follow-up, operations, and webinar coordination in one workspace.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34204-03B3-4F02-84C8-F7F5AA5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5321A-D341-438B-B69E-8D8F097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4005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aad6967b54947"/>
          <a:stretch xmlns:a="http://schemas.openxmlformats.org/drawingml/2006/main"/>
        </p:blipFill>
        <p:spPr>
          <a:xfrm xmlns:a="http://schemas.openxmlformats.org/drawingml/2006/main">
            <a:off x="1666875" y="2724150"/>
            <a:ext cx="2286000" cy="228600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1D852-DE8A-4FFE-9CF7-55242C59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405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Connected system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9B5EF-85D6-4854-8651-98E47B17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405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Shared tables keep orders, students, payments, and refunds in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24AFF-3F1D-477A-8506-03B4C5E4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2781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1669F-15A6-4D3C-B1D6-897CC7D6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020AB-7920-41CC-BC09-51CA738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Acquisition &amp; enrollment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DE520-CA70-4EF6-9E8B-98E11E82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21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Leads can come from webinar,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bootcamp, website, WhatsApp,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or manual campaigns. •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Enrollment can start from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Onboarding Form or Payment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Desk. • BDA ownership can be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assigned during onboarding.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AD02C-80A7-4061-8FAD-6B19CBD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F8F83-AFF6-4062-A3A3-DDB363D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0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9DCFE-93C3-4389-A478-C5CF835A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Revenue &amp; tracking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6EBC9-FF43-40BA-969D-0026639F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95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42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Dashboard, tracker, team,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payments reflect sold value,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collected amount, due amount,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and refunds. • Orders keep BDA,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BDM, product, and transaction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mapping together.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FF042-9885-4B73-9485-049C9943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63055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4D635-0B86-4C71-92A1-2E6F543E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630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283AD-56FA-4AF0-9CAE-4FA0C7B3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81500"/>
            <a:ext cx="592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Fulfilment &amp; governance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13815-1194-4E9A-A647-B7174F87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24400"/>
            <a:ext cx="5924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Only fully paid orders move to the Operations Queue. •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Operations then tracks portal access, broker setup, demat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setup, and welcome kit completion. • Refunds remain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auditable and are reviewed separately from day-to-day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payment handling.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F061E-A8C3-49F2-AA77-65553651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92CCC-CFE9-4572-B676-33D7FDE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869C4-8C04-47F9-9BF3-FB8B27A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4360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8B64E-6A4B-49E2-9583-C1C150A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007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Tracker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C3A929-2A21-4A60-95E7-9E630F9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4360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55093-6ABB-4DB0-9731-E5F1F261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00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Students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3DDE3-3AEB-4F95-AE14-6B3FB59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9436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AD9465-F380-4AA9-9A32-BC0DEB09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007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Orders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70660-25E8-49F2-8B01-860731E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436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0B2C33-2B33-4D71-A19C-342BC455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007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Payments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23A2F0-E962-401C-BD75-D19091F8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436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55F451-B7EA-4630-8B2E-5BD07F2E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0007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Onboarding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281683-01AD-40B3-97F8-ADC4AA2C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4360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94EAAE-37EC-4DCB-A7E4-6566B36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007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Operations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E46A73-C8A1-4B45-94EA-732E610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4360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9A686B-26A6-4131-8D9C-7116CF90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Refunds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4C27AE-CC1B-41B0-BC45-BFFA5B9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43600"/>
            <a:ext cx="1485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F4AB4A-894D-48C8-A99E-8A9F352F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0007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Team &amp; Exports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A255E5-7313-42BC-A3AF-81739B74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Current usability groups business activity into one connected admin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1361266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968A0-B730-4EF6-A8D6-B8EFDFEB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D0F95-DD7B-494D-8D3D-88D0AA29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17DF4-CD37-4B47-AF44-F6724480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2DA5C-6695-4D5B-A0A2-81624C3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ROLE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139ED-B068-4900-B795-EB548FDA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61EEF-B882-4CD6-B164-2EEABC20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BDA vs BDM vs 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69487-4163-4E07-844E-11C9E05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Each role works in the same product, but the responsibilities and restricted areas are different.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E69A6-4222-42A3-BD2B-F0A9B37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9CC18-0229-4E4C-AF2D-5DCC089D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F7F8A-BF0F-443B-8D9C-3B49369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3AC55-31C8-499C-97F6-18E1DC6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F8FD9-0A70-4C5F-80B5-0F585686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Use onboarding, tracker,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students, orders, and payments.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Track due follow-ups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customer ownership. • Can raise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refund requests from the payment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desk but cannot approve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32378-AC9C-4CC3-B9EB-12CD1F8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5A491-FE12-4FF4-B7CA-E1A341B2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0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D800A-6E3A-483C-A35D-C1FFC58F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BDM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C289E-69EC-4A89-80EB-994223A1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42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Monitor dashboard, manager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view, top-BDA performance,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recoveries. • Can export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team-related data and access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settings. • Works more on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oversight than on basic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enrollment entry.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69DA9-2945-467E-B545-FD7881C8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581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6FFC0-008F-4EE8-9C08-98232010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581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C637A-A2B7-482C-9400-0632DD0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D1E4E-57EC-4136-803C-AEA2D31C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Owns payment desk, refund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approvals, operations queue,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settings, links, marketing,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governance. • Can review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approve restricted workflows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across the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E3153-B5BF-4620-9D97-5BF8E943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AA00A-7426-4F6C-9CD9-F3A7FE1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Module / area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845AF-EF7A-43C2-AB67-D17D4B56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98851-4DE7-4A0D-9ADD-A376D6AB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</a:defRPr>
            </a:pPr>
            <a:r>
              <a:rPr sz="975" b="1">
                <a:solidFill>
                  <a:srgbClr val="4F46E5"/>
                </a:solidFill>
              </a:rPr>
              <a:t>BDA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F59D4-D0DB-47BA-AF18-AC139BD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B2F827-8959-4D06-98E1-1A470B54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2400E"/>
                </a:solidFill>
              </a:defRPr>
            </a:pPr>
            <a:r>
              <a:rPr sz="975" b="1">
                <a:solidFill>
                  <a:srgbClr val="92400E"/>
                </a:solidFill>
              </a:rPr>
              <a:t>BDM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4927A-8809-4BA8-A25A-CAB143C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E7C458-E775-47D0-AF98-84370E5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5F46"/>
                </a:solidFill>
              </a:defRPr>
            </a:pPr>
            <a:r>
              <a:rPr sz="975" b="1">
                <a:solidFill>
                  <a:srgbClr val="065F46"/>
                </a:solidFill>
              </a:rPr>
              <a:t>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8D7BF-8BA3-4219-87CC-885AD255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47CBF-CAB5-40C4-9D6A-442620F9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Dashboard / Team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677AD5-6A24-4282-AE13-A5FFDB2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529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92360-E71F-4187-A6DD-FCB1286B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291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View team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061D0F-77BF-482D-9D52-1E52711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529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0F154-554D-41E3-8D9A-2288C933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Team dashboard + manager 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29CEA3-47AB-418F-AC24-A1C5A7CB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820DE2-C53B-439E-AA75-4F4A05BA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Full visibility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450FFA-4234-4B8D-8969-A7BB970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45861-472B-41DC-AC6C-7318660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Onboarding + Tracker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1856DD-FD86-4203-99D5-3A561BE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768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A8BB8C-1230-4DA9-BC76-A55BAFAD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530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Core working area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734ED8-E143-45C0-AC56-56575BB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768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708D97-34DA-44DC-B062-F46C3B37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530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View and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3AE8D4-C4A6-42A1-8C71-9FE4AE15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6BB238-B7AF-4E0D-8DC2-6E9CEC15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Full visibility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58FF75-104B-4B15-87E0-6FCE143D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66A61C-8613-471B-8A3A-5DDE6768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Payments board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41BF37-6D16-4486-B229-DA61761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006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2C6D64-FA98-4730-B010-E0FDDBE0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Use daily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1674A2-9717-4D64-88B5-1F3BA46C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006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545C14-3A59-4B30-89DF-6A3B9D6D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768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Review with team lens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E9547A-9F89-4ABA-9340-51A888DE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49D2E2-5DD9-402C-8852-516203CB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Full control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05EFC6-D844-4FB6-AA15-9FAE7FCA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0E2030-7FFA-4AC8-BD5F-93E96E6D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Exports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2E58A9-4E14-4ACE-AFCF-A10CCC7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245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817B1E-541E-427E-83AB-8452C759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007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Restricted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3ADB38-731F-49B7-9055-DD17C107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D92CFD-12F8-4663-BB26-ABEAFDA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007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Own-team export use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89DEE9-FBE4-4D76-A49E-9FCA9E31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D93D59-6955-44DC-84E3-CC70854E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007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Full export access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78545E-1E9D-4634-A30B-F57588C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54A074-59B0-476E-8BA5-5F7A8E1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Refund workflow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0D58C5-7741-4812-A92C-38D4D6B1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8483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6D5D82-A34F-4B43-9F68-1F40948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245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Raise request only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C39452-0DDB-4FF0-95C3-9AC1CFD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483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B2A641-19F6-42DF-9499-D8D60C12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9245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Restricted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ADDB46-BE3D-49A1-A9C6-D1F3F83A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483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7FF0DA-08D7-494A-BA36-EB3BE9B7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245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Review + approve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1B700E-F69D-49D0-8681-3E0DF058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E6C05A-0114-43CE-9CCF-7D03F5A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Settings / Links / Ops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0B1A62-43BA-406A-91CB-AEA40550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1722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232959-E08C-4C40-B1B8-2D08B69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2484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Restricted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9CB70B-7486-4721-A8D6-10F3B945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742577-0E31-45A1-A4F6-07C03807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2484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Settings only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531CC71-9E9C-4A8E-8C09-3A370BFA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1722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87D345A-22D1-45C9-8C62-65751D0C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24840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Full access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a2970305c44a0"/>
          <a:stretch xmlns:a="http://schemas.openxmlformats.org/drawingml/2006/main"/>
        </p:blipFill>
        <p:spPr>
          <a:xfrm xmlns:a="http://schemas.openxmlformats.org/drawingml/2006/main">
            <a:off x="10210800" y="878803"/>
            <a:ext cx="1295400" cy="452195"/>
          </a:xfrm>
          <a:prstGeom xmlns:a="http://schemas.openxmlformats.org/drawingml/2006/main" prst="round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6A3D72-0069-4D1D-B0F7-91DCB77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Training note: the user sees one product, but permissions decide which actions are open or restricted.</a:t>
            </a:r>
          </a:p>
        </p:txBody>
      </p:sp>
    </p:spTree>
    <p:extLst>
      <p:ext uri="{BB962C8B-B14F-4D97-AF65-F5344CB8AC3E}">
        <p14:creationId xmlns:p14="http://schemas.microsoft.com/office/powerpoint/2010/main" val="1679068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22618-890E-4CC9-BEE1-E759A547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F3C43-23AE-45A6-85D9-CCF3A1DD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6614C-BA7B-4152-BA6C-801BF91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61C37-649B-48E5-BE25-CCD6907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CUSTOMER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790E6-3157-48C0-98D8-7BF3FF27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2F989-7640-4BF5-B223-44D04AFA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Lead to payment to fulfilment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862F5-0D69-43AA-BE2C-1DFFE1AF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customer journey spans acquisition, enrollment, collection, recovery follow-up, and final fulfilment.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73E64-9C94-42BB-8DA6-CD551D67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4B0B2-F25A-4995-81FC-361433D1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4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3DCF2-3ECB-46DE-AEC7-4C218DC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6163C-675D-4CEE-B279-A3EDA80C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B7F76-D21B-4211-9242-37BAB7A9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Lead captured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8C359-7889-4B02-B7F8-5CB0132E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Lead comes from webinar,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bootcamp, website,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WhatsApp, or a manual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campaign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D73F4-7F86-4375-89F1-EC36987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34BC7-6320-4AD7-A496-FBD138DB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224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BEFE2-BAA9-47C3-AA41-AF9B2F4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51F2E-D25F-41FB-B3CC-9333DB57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08CCD-533A-462C-B105-C2BBC705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Enrollment 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B492A-CB4D-401B-9F91-B0FDD411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Onboarding Form captures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customer info, product,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BDA assignment, payment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type, and source.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334A9-7960-4740-878A-5159845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861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77261-8DC6-456E-8A78-F9913228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B2C5F-56FF-4EBE-9995-4A12197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C9D75-F864-441F-9599-F8A2FB72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CC2AE-C5D7-4232-985C-35B383B4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781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Payment link or manual payment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A0EAE-C987-4409-BF88-702447F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1676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The team creates a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Razorpay link or records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cash / bank transfer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details.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96E68-9FB7-4279-83F4-65649DC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a9a540b274b91"/>
          <a:stretch xmlns:a="http://schemas.openxmlformats.org/drawingml/2006/main"/>
        </p:blipFill>
        <p:spPr>
          <a:xfrm xmlns:a="http://schemas.openxmlformats.org/drawingml/2006/main">
            <a:off x="9553575" y="2724150"/>
            <a:ext cx="1085850" cy="108585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DD068-62E8-4611-A5FB-0007187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052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Lead entry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F7FB74-FD27-46BD-AB6C-9BD3B99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04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Webinar and conversion activity supports the top of the funnel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564C1-D0FA-4863-B2B1-47FEBEA1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24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50592-DCAC-4ACB-A010-66BB5E9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F20D8-D56D-4C8C-B524-EEF9BB9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4795FD-3F0A-4B8A-B6E1-06AED2C1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7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Payment completed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3DDDA4-AE30-4EDC-91C4-5F796255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Successful payment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updates the order and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moves the customer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closer to fulfilment.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6D7745-0A27-4B93-82AB-563780E1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577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A74D9-52F5-43C9-BB13-FA64FDDF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243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C9B3FE-A472-4F39-857B-04C0B8DA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375589-5F14-439A-B698-6F5B7047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86904C-32B3-45FF-A82B-D880468B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Token / due follow-up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7422EA-2DDE-4A81-89DC-37B5A7C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If the customer paid only a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token, the tracker and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payments board handle the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next follow-up and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remaining amount link.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78D4C9-1E6C-4E8E-8BA2-BDB11445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824AB5-EDAB-4483-9B1D-7BB6860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4648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A4534E-AF2E-4B76-A1B7-82F5BE7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4B0B9-55B8-4868-A0AD-A6D849A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861AE1-7329-4595-8327-33A1D910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1485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Operations fulfilment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6F63F6-7495-4F35-A962-C0FE6F57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4267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Fully paid orders appear in the Operations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Queue for portal access, broker setup, demat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setup, and welcome kit completion.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88FA42-CC1F-43DA-8129-FD59B8A4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Today’s working model: collection and fulfilment are linked, but post-payment customer messaging is not yet a finished automated journey.</a:t>
            </a:r>
          </a:p>
        </p:txBody>
      </p:sp>
    </p:spTree>
    <p:extLst>
      <p:ext uri="{BB962C8B-B14F-4D97-AF65-F5344CB8AC3E}">
        <p14:creationId xmlns:p14="http://schemas.microsoft.com/office/powerpoint/2010/main" val="691201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81B17-9F87-450B-8C54-5F906A17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FD90E-D747-44E3-88FA-E016798A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21C7F-D681-45AE-BB9E-C6883E91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5BE5C-B906-49DF-9614-AF9DD50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BDA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458DF-67FC-4CEC-85EC-9E9B0441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77C5D-6BD6-4C84-92D6-93B8BFBB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How a BDA uses the application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4C860-9F90-4ACA-9CB4-375C2723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BDAs spend most of their time on enrollment capture, payment initiation, due follow-up, and customer ownership visibility.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4FFA8-42BD-41FF-AF6D-AF61A9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A5BE6-E8B4-4400-8667-46B0946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1719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2d45558a84ef8"/>
          <a:stretch xmlns:a="http://schemas.openxmlformats.org/drawingml/2006/main"/>
        </p:blipFill>
        <p:spPr>
          <a:xfrm xmlns:a="http://schemas.openxmlformats.org/drawingml/2006/main">
            <a:off x="1562100" y="2724150"/>
            <a:ext cx="2266950" cy="22669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92CD3-8713-4036-8623-6A314ACD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Primary BDA working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51DF5-2C94-4853-AEFA-0FAAF8F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Onboarding, tracker, students, orders, and payments stay closely connected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F0A86-EE7E-4FE2-9F3A-3BB6DC5D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2914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481B8-45DD-480A-A9EF-30A1F4C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7F21A-7991-4B6A-A682-75402310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1. Start from Onboarding 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7C59B-2014-428D-AA8A-00A634A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2533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Enter customer name, phone,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email, source, product,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assigned BDA. • Choose full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payment or token payment. •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Select Razorpay, bank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transfer, or cash.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26C48-3CE5-4DE9-8FC4-0FF23B0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3BABD-053C-4A2D-9BFB-531A199C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0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A4025-2689-4048-8E14-FBCEAC15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2. Share or record 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01A51-9029-4C95-938E-03CD94E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304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53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Create the enrollment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generate the payment link. • For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manual payments, store reference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details in the workflow. • The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due amount is calculated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automatically when token is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used.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3826D-2C8D-4E1A-B899-DE9D2FEC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2914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0D843-E351-413F-959A-3E7DA536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7EEFD-1448-47AC-8BD3-1D4D39B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3. Use AiSensy manually when needed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367FE-B9D6-4A96-9F46-AEEB225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After the link is generated,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the BDA can use the manual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'Send via AiSensy' action from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onboarding. • This is a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payment-link send flow, not a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post-payment welcome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94D51-2D2E-4640-AB2C-8277FD1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3EC13-36FC-47F5-9A25-1317E66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ED445-B295-460F-97D2-B8311837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4. Track recovery and ownership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F9040-52BA-4BA6-A435-5D9820DB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67250"/>
            <a:ext cx="304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Use Tracker and Payments Board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to follow up on token dues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pending amounts. • Students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orders help the BDA see history,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ownership, and status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11754-CA90-4316-B555-98F5E761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05500"/>
            <a:ext cx="3867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D10792-1E0E-4579-A0D2-3F0151C7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6265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91B1B"/>
                </a:solidFill>
              </a:defRPr>
            </a:pPr>
            <a:r>
              <a:rPr sz="825" b="1">
                <a:solidFill>
                  <a:srgbClr val="991B1B"/>
                </a:solidFill>
              </a:rPr>
              <a:t>Restriction: no export + no refund approval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B4F7E6-AEC7-4B9D-AB57-91E83B4B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BDA training focus: clean onboarding entry, accurate payment mode selection, and disciplined follow-up.</a:t>
            </a:r>
          </a:p>
        </p:txBody>
      </p:sp>
    </p:spTree>
    <p:extLst>
      <p:ext uri="{BB962C8B-B14F-4D97-AF65-F5344CB8AC3E}">
        <p14:creationId xmlns:p14="http://schemas.microsoft.com/office/powerpoint/2010/main" val="83191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79663-C070-4364-BB48-B7D951F0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F2EE-AEA9-4B30-8240-317570E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1D58-BD13-4444-8BA5-BF496779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B565B-25B9-43A5-ABED-B882EB2E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BDM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7928F-7E87-41A7-9002-07FD7C2A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06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5CBB9-37B4-4ADD-B3D9-16F79C3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How a BDM uses the application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FB600-A48F-4376-822F-840F65E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BDMs work more as performance owners: they watch team collections, recoveries, manager summaries, and exports.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25FC6-82AC-498C-9602-6500012C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0CEEE-7B9E-41EE-AE4D-F085DF2E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43434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0a115b30a4706"/>
          <a:stretch xmlns:a="http://schemas.openxmlformats.org/drawingml/2006/main"/>
        </p:blipFill>
        <p:spPr>
          <a:xfrm xmlns:a="http://schemas.openxmlformats.org/drawingml/2006/main">
            <a:off x="8324850" y="2724150"/>
            <a:ext cx="2171700" cy="217170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D9F4A-4D8F-455C-AEE3-D452460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BDM visibility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C585D-1AF2-4B07-AC06-BBAE0A66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Dashboard and team-oriented summaries provide manager-level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8C8AC-D6ED-4287-A397-262CABAD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28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F033B-0CDB-43BF-B454-D84AD213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28A72-E51F-4CA9-AC27-9F811C1F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Collections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58D06-D282-4502-8F01-F1EAD50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933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121B6-D3EE-4AA4-8813-18580B6B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03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2400E"/>
                </a:solidFill>
              </a:defRPr>
            </a:pPr>
            <a:r>
              <a:rPr sz="825" b="1">
                <a:solidFill>
                  <a:srgbClr val="92400E"/>
                </a:solidFill>
              </a:rPr>
              <a:t>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C6B16-82AC-40AF-96CE-7E054A16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9D851-C4D1-4A8F-9BEA-6609A48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</a:defRPr>
            </a:pPr>
            <a:r>
              <a:rPr sz="825" b="1">
                <a:solidFill>
                  <a:srgbClr val="065F46"/>
                </a:solidFill>
              </a:rPr>
              <a:t>Leaderboard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17816-36A5-4B92-B69F-D47A02D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43200"/>
            <a:ext cx="8001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74690-0127-413E-BF1C-E684A7C6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0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Exports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BCBDC-5660-4BA3-9F77-9317445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BDM typically uses Dashboard, Team, Tracker, and Export views to understand how the team is performing, where recovery pipeline sits, and which BDA needs support.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6B205-CAD9-44C0-A5B5-D531C72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240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40990-BC77-4B64-BB34-F89E0B02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C9EAB-8E31-4C1C-9476-9EF90F6A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6F92A-DDE8-4DD7-B150-483F128F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5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See sold value vs cash in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hand. • Monitor new revenue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and recovery revenue. • Check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manager snapshot and recent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orders.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99598-A0F5-4447-8B65-B332191C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62400"/>
            <a:ext cx="19240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98C3C-2B6E-4B51-B6F7-13877AE4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624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0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3592D-7F74-4618-97ED-41A36387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338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Team 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9CE78-F5FB-4A8C-B019-DA9244A4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7675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Review manager track. •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Compare top-BDA performance. •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See customer count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pipeline.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F02DCA-EA57-49E0-9E31-A63D428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2095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D0BAD-55E6-4B2A-ABC9-90B47475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CF9D05-1331-4EDB-B89B-38E17575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33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Tracker oversight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6DCDB7-39E0-4AE9-A147-0CA42346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Watch promises due today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overdue. • Track follow-up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pressure by BDA and product.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84572-D2FB-4AD7-BD64-104F2D5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57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D26B2A-C216-4125-9A16-12E3B3E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634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Access note: BDM can export team data and access settings, but refund approval remains restricted.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397B7D-7F43-44F0-AAA9-26D5BE30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BDM training focus: read the system as a team-performance dashboard, not just a transaction list.</a:t>
            </a:r>
          </a:p>
        </p:txBody>
      </p:sp>
    </p:spTree>
    <p:extLst>
      <p:ext uri="{BB962C8B-B14F-4D97-AF65-F5344CB8AC3E}">
        <p14:creationId xmlns:p14="http://schemas.microsoft.com/office/powerpoint/2010/main" val="2431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68943-8953-4810-B342-C283FF9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D9A63-23D7-4725-9259-BF80B5D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AC988-BDAE-45B5-ACCC-776677A3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2B643-6157-481C-AAAA-8436EBE6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ADMIN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0E254-D68F-4E85-8664-A881714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43BE7-3511-4552-AD3C-8131C7B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How Admin uses the application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F67CA-A11F-4B84-84EF-B9B42496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Admin users connect collection, approvals, fulfilment, and settings so the whole customer journey stays governed.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8AFB-D023-41CC-8DF8-19B955B3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1C0A6-7FFA-45F4-BA84-15C906C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324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0b43b0c8742d1"/>
          <a:stretch xmlns:a="http://schemas.openxmlformats.org/drawingml/2006/main"/>
        </p:blipFill>
        <p:spPr>
          <a:xfrm xmlns:a="http://schemas.openxmlformats.org/drawingml/2006/main">
            <a:off x="1609725" y="2724150"/>
            <a:ext cx="2324100" cy="232410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2021B-27D3-43A1-BBDB-AADBE704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98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Admin working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F2B0C-4B84-4A17-9DDB-E0E4ECC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Payments, refunds, operations, settings, links, marketing, and 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D655D-1239-4852-BB04-BB1CF463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3028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EAF25-AC0B-4B20-8585-5E331F5E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A75BE-3273-4155-A428-551EA72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Payments 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23642-0966-45BD-B9EC-450EB38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2647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Filter by source, state,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mode, method, and date. • Mark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paid or failed, create due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links, request refunds,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monitor transaction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EED77-C603-40BA-B7B2-2EC19432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36264-CEC8-42F4-B105-5C6A3D3D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1B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263ED-0914-4BD2-BFB1-42FAF31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Refund 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4F375-1E87-4640-BAE4-319F955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Admin reviews incoming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refund requests and keeps the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approval trail separate from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routine payment work. • This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is the approval layer that BDA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and BDM do not 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45DBC-D467-463A-AB72-AD5ACB3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30289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F323B-C025-46B9-9EC0-172A7BA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C9B21-9663-4B11-B134-ECD721E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243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Operations queue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F7F96-2457-4C5A-9502-33986C1A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67250"/>
            <a:ext cx="2647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• Only fully paid orders show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here. • The queue is meant for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fulfilment, not collection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follow-up. • This keeps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operations clean and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action-oriented.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2C06C-93C5-4878-B655-AB3956B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52900"/>
            <a:ext cx="3143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F8420-642B-4019-A247-23BE237B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Fulfilment checklist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FE43F-6240-4799-91DE-38E87F8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535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3B3DF-63B1-4A67-9DE4-5F40F57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</a:defRPr>
            </a:pPr>
            <a:r>
              <a:rPr sz="825" b="1">
                <a:solidFill>
                  <a:srgbClr val="065F46"/>
                </a:solidFill>
              </a:rPr>
              <a:t>Portal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7F516-D02B-4314-A5CB-2D59845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053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E1A08-0835-426F-95CE-39EC49C9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62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</a:defRPr>
            </a:pPr>
            <a:r>
              <a:rPr sz="825" b="1">
                <a:solidFill>
                  <a:srgbClr val="065F46"/>
                </a:solidFill>
              </a:rPr>
              <a:t>Broker setup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8262C-9C00-4289-B0FA-2478C864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863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5A1523-6D8E-4935-B8C9-50D4DCD2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</a:defRPr>
            </a:pPr>
            <a:r>
              <a:rPr sz="825" b="1">
                <a:solidFill>
                  <a:srgbClr val="065F46"/>
                </a:solidFill>
              </a:rPr>
              <a:t>Demat setup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6E8AA-2552-4CEE-B95C-CA29A8B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A81FC5-D9DF-4707-8CEF-E1924B32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143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5F46"/>
                </a:solidFill>
              </a:defRPr>
            </a:pPr>
            <a:r>
              <a:rPr sz="825" b="1">
                <a:solidFill>
                  <a:srgbClr val="065F46"/>
                </a:solidFill>
              </a:rPr>
              <a:t>Welcome kit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08825-751D-4ACA-83BE-2D466DBF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8640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7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Admin and operations users close the loop after collection so the order can move from paid status into actual learner fulfilment.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ACF0D8-EC8F-4535-A502-2F2CA76D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Admin training focus: keep the revenue layer accurate and the fulfilment layer disciplined.</a:t>
            </a:r>
          </a:p>
        </p:txBody>
      </p:sp>
    </p:spTree>
    <p:extLst>
      <p:ext uri="{BB962C8B-B14F-4D97-AF65-F5344CB8AC3E}">
        <p14:creationId xmlns:p14="http://schemas.microsoft.com/office/powerpoint/2010/main" val="229881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C9F2E-9B56-4610-867D-20E09AE5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D55FA-370C-477D-981D-53170E8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53C22-7293-465E-B94A-7F402D19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E879D-B59C-4612-A75D-F61D6AF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D2FE"/>
                </a:solidFill>
              </a:defRPr>
            </a:pPr>
            <a:r>
              <a:rPr sz="825" b="1">
                <a:solidFill>
                  <a:srgbClr val="C7D2FE"/>
                </a:solidFill>
              </a:rPr>
              <a:t>CURRENT USABILITY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9A3F-B42A-41A1-90A1-B920528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08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1E210-CF7F-4472-880F-32FA4B8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How payment and messaging work right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9BCE4-81DC-4AB3-AE96-E1759DC8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This is the current usability today. The payment workflow is operational, but the post-payment messaging journey is still incomplete.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2CEC1-B292-402F-B14B-998477AA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A69F5-6505-4170-9DF2-38E217C1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181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556D4-84B6-40A3-818A-9E11C56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happens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DAB67-A390-449B-BCD3-7CB499A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686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BDA or admin creates enrollment or payment link.</a:t>
            </a:r>
          </a:p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Razorpay or manual payment details are captured.</a:t>
            </a:r>
          </a:p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From Onboarding Form, the team can manually use 'Send via AiSensy' after generating the payment link.</a:t>
            </a:r>
          </a:p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Tracker and Payments Board handle due follow-up for token or partial collections.</a:t>
            </a:r>
          </a:p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After full payment, the order moves to the Operations Queue for fulfilment steps.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4A45C-803D-4F5B-96E6-20284CA7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9548-A60A-49EC-98CA-0E1EAFFA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Current usability is like this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78A81-7158-4B2E-ABD1-F429767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5524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AD786-0A1C-4A76-9F01-CB614CA1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is not automatic yet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75726-71C6-44A7-AB69-FF2CD47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A confirmed automatic post-payment AiSensy confirmation flow is not yet the main usable process for training.</a:t>
            </a:r>
          </a:p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A confirmed automatic AiSensy welcome message after payment completion is also not yet the standard working flow.</a:t>
            </a:r>
          </a:p>
          <a:p xmlns:a="http://schemas.openxmlformats.org/drawingml/2006/main">
            <a:pPr algn="l">
              <a:defRPr sz="1200" b="0">
                <a:solidFill>
                  <a:srgbClr val="D8E1F0"/>
                </a:solidFill>
              </a:defRPr>
            </a:pPr>
            <a:r>
              <a:rPr sz="1200" b="0">
                <a:solidFill>
                  <a:srgbClr val="D8E1F0"/>
                </a:solidFill>
              </a:rPr>
              <a:t>• Because of that, teams should treat the current journey as: payment link send first, payment completion second, fulfilment actions after that.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6BE2-3ABC-4EB3-BE58-6F8D9FA8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2571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E226C-1833-43B1-905A-A5BA619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Today: manual payment-link send exists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0EFC9-80D4-42E5-BD69-20B18847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3333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B1A25-2AE8-4CF0-B26A-23792B61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91B1B"/>
                </a:solidFill>
              </a:defRPr>
            </a:pPr>
            <a:r>
              <a:rPr sz="825" b="1">
                <a:solidFill>
                  <a:srgbClr val="991B1B"/>
                </a:solidFill>
              </a:rPr>
              <a:t>Today: post-payment welcome automation is pending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eb6afe18a40f6"/>
          <a:stretch xmlns:a="http://schemas.openxmlformats.org/drawingml/2006/main"/>
        </p:blipFill>
        <p:spPr>
          <a:xfrm xmlns:a="http://schemas.openxmlformats.org/drawingml/2006/main">
            <a:off x="10173767" y="5886450"/>
            <a:ext cx="1255165" cy="438150"/>
          </a:xfrm>
          <a:prstGeom xmlns:a="http://schemas.openxmlformats.org/drawingml/2006/main" prst="round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33B88-1BFB-4B81-AF29-10EA435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Training instruction: teach the current workflow first, then mention the future automation plan.</a:t>
            </a:r>
          </a:p>
        </p:txBody>
      </p:sp>
    </p:spTree>
    <p:extLst>
      <p:ext uri="{BB962C8B-B14F-4D97-AF65-F5344CB8AC3E}">
        <p14:creationId xmlns:p14="http://schemas.microsoft.com/office/powerpoint/2010/main" val="1264916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3C1CB-02CF-4E2C-BE8D-49005719E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88C2B-F52B-40C6-9349-26718256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8572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F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A373A-BEDA-40BE-982C-1CA0D1F1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D1710-E687-4882-94B7-D26FEB8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0730F-5B1D-45C3-AD2D-EB0CC608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FUTURE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24004-9E77-419E-960E-E2DA7C4A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012AC-347E-47CE-BB99-24AA8E9A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What we will try after payment completion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93A49-C96A-4BBA-BC7B-741B2F0D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Future updates may improve the messaging handoff after successful payment, while the current operational flow remains unchanged for now.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B4E65-F2D5-4978-9C32-01D90FFA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54E06-A036-4DBD-A006-5232F8EF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248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B2E53-7CC2-47E1-8D0E-7B9EFBB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Use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98877-EC0E-4751-A960-A94D110C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733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• Create enrollment or payment link.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• Share payment link or record manual payment.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• Use tracker and payments board for pending amounts.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• Move fully paid orders into operations fulfilment.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24D26-3C36-4291-8237-EDD2FDA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828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73E66-26FE-4496-9FCB-7DFEBE95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46E5"/>
                </a:solidFill>
              </a:defRPr>
            </a:pPr>
            <a:r>
              <a:rPr sz="825" b="1">
                <a:solidFill>
                  <a:srgbClr val="4F46E5"/>
                </a:solidFill>
              </a:rPr>
              <a:t>Current standard 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58D8D-8AB1-4B8C-91DA-B42A1C3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6477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16986-E5A3-41F7-AEBB-3B112F11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Future updates we will 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094A-5450-4E80-A580-9008AC9B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5B268-2473-402B-8869-0FC4B8C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16D66-6F02-4139-B85D-C234DB96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4EACA-0667-4525-BFEE-42330BB9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2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Payment 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89B69-0DB4-4F9F-A447-AB348386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290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Successful payment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becomes the event that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can trigger the next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communication step.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037A1-95ED-47F9-818B-587B86D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5252E-4F85-4D54-9DB4-78FCD969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17716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79190-6604-4A06-9C34-9C1D2821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55670-28B8-4BB5-909F-9EDD4E25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48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0117F-E86B-4BDE-9222-33DFC5F5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0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AiSensy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50DF1-9974-48F1-AF53-0B12C90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1390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We will try sending a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confirmation message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once payment is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completed successfully.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FD2E3-0C87-4C68-89D4-F0C3586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671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D3DCA-24BC-4CC4-B0DE-F50107F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19450"/>
            <a:ext cx="1466850" cy="1619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0550CA-1D80-40A1-904A-DD4F917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53FF40-D497-4300-B67D-1F06ECF0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480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C20CA2-5ECA-4FC1-9BD0-213731E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781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AiSensy welcome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D6817-92AB-45F8-A5BC-B30DDC92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29050"/>
            <a:ext cx="1085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76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We will also try sending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a welcome message after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payment completion in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future updates.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A9BF5-4A37-4E14-B341-F4117B38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673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C0113-AFE3-44F6-BF88-4752740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24450"/>
            <a:ext cx="415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2400E"/>
                </a:solidFill>
              </a:defRPr>
            </a:pPr>
            <a:r>
              <a:rPr sz="825" b="1">
                <a:solidFill>
                  <a:srgbClr val="92400E"/>
                </a:solidFill>
              </a:rPr>
              <a:t>Goal: reduce manual follow-up and improve onboarding consistency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d4d79b0e34a4c"/>
          <a:stretch xmlns:a="http://schemas.openxmlformats.org/drawingml/2006/main"/>
        </p:blipFill>
        <p:spPr>
          <a:xfrm xmlns:a="http://schemas.openxmlformats.org/drawingml/2006/main">
            <a:off x="10325100" y="5851752"/>
            <a:ext cx="1181100" cy="412295"/>
          </a:xfrm>
          <a:prstGeom xmlns:a="http://schemas.openxmlformats.org/drawingml/2006/main" prst="round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CCB4F-10EF-4C2C-B609-841DD4E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Close the training by reinforcing the current working flow, then position automation as the next improvement.</a:t>
            </a:r>
          </a:p>
        </p:txBody>
      </p:sp>
    </p:spTree>
    <p:extLst>
      <p:ext uri="{BB962C8B-B14F-4D97-AF65-F5344CB8AC3E}">
        <p14:creationId xmlns:p14="http://schemas.microsoft.com/office/powerpoint/2010/main" val="898109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2026-04-30T14:41:23.9580000Z</dcterms:created>
  <dcterms:modified xsi:type="dcterms:W3CDTF">2026-04-30T14:41:23.9580000Z</dcterms:modified>
</coreProperties>
</file>